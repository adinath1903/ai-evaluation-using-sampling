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1" r:id="rId10"/>
    <p:sldId id="263" r:id="rId11"/>
    <p:sldId id="270" r:id="rId12"/>
    <p:sldId id="264" r:id="rId13"/>
    <p:sldId id="266" r:id="rId14"/>
    <p:sldId id="267" r:id="rId15"/>
    <p:sldId id="268" r:id="rId16"/>
    <p:sldId id="269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79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07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00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15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12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42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0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83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51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87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94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37A7137-736D-4F1C-863F-E58F0DD994DA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3312B20-E371-4667-BE11-B84756BA921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17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BC4F-76A6-D15C-B473-3C471B8FAE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Evaluation of AI Chatbots Using Inverse Sampling Theory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5726B-F298-CE89-E132-A4D9A3D3D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</a:t>
            </a:r>
          </a:p>
          <a:p>
            <a:r>
              <a:rPr lang="en-US" dirty="0"/>
              <a:t>Adinath </a:t>
            </a:r>
            <a:r>
              <a:rPr lang="en-US" dirty="0" err="1"/>
              <a:t>nare</a:t>
            </a:r>
            <a:r>
              <a:rPr lang="en-US" dirty="0"/>
              <a:t> 2401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745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88F3-DB46-2DAE-8C32-F940E3AB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502A26-985F-BFA0-A8CE-74943E6817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83784"/>
            <a:ext cx="1035918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chatbots are widely used in decision-making and information retrieval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Evaluating their accuracy is critical but computationally expensive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evaluation uses full datasets (complete enumeration)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Sampling theory provides an efficient alternative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study applies statistical sampling to AI system evaluation </a:t>
            </a:r>
          </a:p>
        </p:txBody>
      </p:sp>
    </p:spTree>
    <p:extLst>
      <p:ext uri="{BB962C8B-B14F-4D97-AF65-F5344CB8AC3E}">
        <p14:creationId xmlns:p14="http://schemas.microsoft.com/office/powerpoint/2010/main" val="228225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C28D-6432-1C1B-5423-A553E6731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704F66-6200-9D61-630A-8EAFC2DD1D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160" y="1690688"/>
            <a:ext cx="1082168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errors are relatively infrequent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Measuring error probability directly requires large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Fixed-sample methods may waste effort when errors are rare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</a:t>
            </a:r>
            <a:r>
              <a:rPr lang="en-US" altLang="en-US" sz="3000" dirty="0">
                <a:solidFill>
                  <a:schemeClr val="tx1"/>
                </a:solidFill>
                <a:latin typeface="Arial" panose="020B0604020202020204" pitchFamily="34" charset="0"/>
              </a:rPr>
              <a:t>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eed a method that adapts to occurrence of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estimate error probability efficiently </a:t>
            </a:r>
          </a:p>
        </p:txBody>
      </p:sp>
    </p:spTree>
    <p:extLst>
      <p:ext uri="{BB962C8B-B14F-4D97-AF65-F5344CB8AC3E}">
        <p14:creationId xmlns:p14="http://schemas.microsoft.com/office/powerpoint/2010/main" val="230140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3FAA-4684-01F1-F81D-ABE91B29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of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9D41A-0FF1-241A-E078-67C270619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Estimate error probability of chatbots using sampled data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Compare performance between two AI systems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Use only </a:t>
            </a:r>
            <a:r>
              <a:rPr lang="en-US" sz="3000" b="1" dirty="0"/>
              <a:t>sampling distributions and probabilistic methods</a:t>
            </a:r>
            <a:r>
              <a:rPr lang="en-US" sz="3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Avoid full dataset evaluation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Demonstrate practical application of inverse sampling </a:t>
            </a:r>
          </a:p>
          <a:p>
            <a:pPr marL="0" indent="0">
              <a:buNone/>
            </a:pP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156784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82D2-FB3C-5C6F-5D30-03716FE7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collection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B2D1AB-4948-36CC-7A08-96FEB2F702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54334"/>
            <a:ext cx="10895611" cy="589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consists of multiple-choice and multi-select questions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(Stochastic  processes and Probability Theory book)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question was posed independently to all chatbots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Responses were recorded in a structured dataset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response was compared with the correct answer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chatbots evaluated: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Claude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randomly shuffled to ensure independence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58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DFEC-177B-FE2D-AC75-67842F4D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Definition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276B8A-C582-ED01-BE6C-67A46DB568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5"/>
            <a:ext cx="789831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response treated as a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Bernoulli trial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 defined 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= 1 (incorrect response)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=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occurs if: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correct options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Selecting incorrect options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objective and consistent evaluation </a:t>
            </a:r>
          </a:p>
        </p:txBody>
      </p:sp>
    </p:spTree>
    <p:extLst>
      <p:ext uri="{BB962C8B-B14F-4D97-AF65-F5344CB8AC3E}">
        <p14:creationId xmlns:p14="http://schemas.microsoft.com/office/powerpoint/2010/main" val="3965711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02E7-A2A8-6599-5953-868BC25F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552"/>
            <a:ext cx="10515600" cy="1325563"/>
          </a:xfrm>
        </p:spPr>
        <p:txBody>
          <a:bodyPr/>
          <a:lstStyle/>
          <a:p>
            <a:r>
              <a:rPr lang="en-IN" dirty="0"/>
              <a:t>Inverse Sampling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53C76C-805F-D4E6-3405-ECCF1CD2CA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2"/>
            <a:ext cx="1088858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Inverse sampling is a sequential sampling method where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successes (errors) is fixed in advance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fixing sample size n, sampling continues until a pre-specified number of errors r is observed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total number of trials N required to reach r errors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variable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 this framework, N follows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binomial distribution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modeling the number of trials needed to observe r failures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approach is particularly useful when the event of interest (error) has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or unknown probability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 it avoids unnecessary sampling </a:t>
            </a:r>
          </a:p>
        </p:txBody>
      </p:sp>
    </p:spTree>
    <p:extLst>
      <p:ext uri="{BB962C8B-B14F-4D97-AF65-F5344CB8AC3E}">
        <p14:creationId xmlns:p14="http://schemas.microsoft.com/office/powerpoint/2010/main" val="3506280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F0246-1B2A-8DB1-3E7F-451090F7C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6A8EE3-8F74-5246-2047-81F0402F40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72420"/>
            <a:ext cx="9217588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 dataset to approximate independent trials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cumulative sum of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 when cumulative errors reach r=20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total number of questions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 error probability using r/N</a:t>
            </a:r>
          </a:p>
        </p:txBody>
      </p:sp>
    </p:spTree>
    <p:extLst>
      <p:ext uri="{BB962C8B-B14F-4D97-AF65-F5344CB8AC3E}">
        <p14:creationId xmlns:p14="http://schemas.microsoft.com/office/powerpoint/2010/main" val="4245980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546A58-8567-B788-EF25-6B1DEFC25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801"/>
            <a:ext cx="5261392" cy="4277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8C970D-498A-B97E-63F8-3F3EB9DD2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010" y="933143"/>
            <a:ext cx="5745093" cy="467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21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F5F16-7B8F-E819-721C-C4846331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0E848-13FA-4FDC-7B85-F40BCBB7E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each trial follows Bernoulli distribution with probability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IN" dirty="0"/>
              </a:p>
              <a:p>
                <a:r>
                  <a:rPr lang="en-IN" dirty="0"/>
                  <a:t>Number of trials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dirty="0"/>
                  <a:t> follows </a:t>
                </a:r>
                <a:r>
                  <a:rPr lang="en-IN" b="1" dirty="0"/>
                  <a:t>negative binomial distribution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Estimator of error probability: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IN" dirty="0"/>
                  <a:t>This estimator is consistent under inverse sampling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0E848-13FA-4FDC-7B85-F40BCBB7E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927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097BB8-CC3F-757F-E3B0-F1625B5BC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75" y="942975"/>
            <a:ext cx="611505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21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1D9C7-413B-2D00-85AF-5F4CB630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Variance and Confidence Interval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45EE2-A05D-DB4C-0E34-E9CBBA66C9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Under inverse sampling, the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dirty="0"/>
                  <a:t>is a function of the random stopping time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 variance of the estimator is given by: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IN" dirty="0"/>
                  <a:t>Since the true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dirty="0"/>
                  <a:t>is unknown, we use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ar-AE" dirty="0"/>
                  <a:t>(</a:t>
                </a:r>
                <a:r>
                  <a:rPr lang="en-IN" dirty="0"/>
                  <a:t>plug-in estimate) to compute variance and standard error </a:t>
                </a:r>
              </a:p>
              <a:p>
                <a:r>
                  <a:rPr lang="en-IN" dirty="0"/>
                  <a:t>Standard error (SE) is obtained as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Var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</m:d>
                      </m:e>
                    </m:rad>
                  </m:oMath>
                </a14:m>
                <a:r>
                  <a:rPr lang="ar-AE" dirty="0"/>
                  <a:t>, </a:t>
                </a:r>
                <a:r>
                  <a:rPr lang="en-IN" dirty="0"/>
                  <a:t>reflecting sampling variability </a:t>
                </a:r>
              </a:p>
              <a:p>
                <a:r>
                  <a:rPr lang="en-IN" dirty="0"/>
                  <a:t>A 95% confidence interval is constructed as: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±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𝑆𝐸</m:t>
                    </m:r>
                  </m:oMath>
                </a14:m>
                <a:endParaRPr lang="ar-AE" dirty="0"/>
              </a:p>
              <a:p>
                <a:r>
                  <a:rPr lang="en-IN" dirty="0"/>
                  <a:t>This interval provides a probabilistic range where the true error probability is expected to lie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45EE2-A05D-DB4C-0E34-E9CBBA66C9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 r="-1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6183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4D6C-F0D8-117A-0AD3-26361EE7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B102E64-71AB-9274-27B7-C0572D6D0C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772213"/>
              </p:ext>
            </p:extLst>
          </p:nvPr>
        </p:nvGraphicFramePr>
        <p:xfrm>
          <a:off x="838200" y="2542069"/>
          <a:ext cx="10058400" cy="109728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44901887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98618457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8471765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4685621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977304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8608446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p̂ (Error Prob.)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95% 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490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0.0247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(0.069, 0.166)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490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0.0231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(0.064, 0.154)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5004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4B9BECD-B91B-E91B-501F-5EC978128F85}"/>
              </a:ext>
            </a:extLst>
          </p:cNvPr>
          <p:cNvSpPr txBox="1"/>
          <p:nvPr/>
        </p:nvSpPr>
        <p:spPr>
          <a:xfrm>
            <a:off x="838200" y="21727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Inverse Sampling Results (r = 20):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700F83F-43E2-F374-21EA-CC58C42D2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78" y="4177342"/>
            <a:ext cx="94683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Both chatbots have approximate </a:t>
            </a:r>
            <a:r>
              <a:rPr lang="en-US" altLang="en-US" b="1" dirty="0">
                <a:latin typeface="Arial" panose="020B0604020202020204" pitchFamily="34" charset="0"/>
              </a:rPr>
              <a:t>similar estimated error probabilities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Claude shows a slightly lower estimate, indicating marginally better performance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However, the </a:t>
            </a:r>
            <a:r>
              <a:rPr lang="en-US" altLang="en-US" b="1" dirty="0">
                <a:latin typeface="Arial" panose="020B0604020202020204" pitchFamily="34" charset="0"/>
              </a:rPr>
              <a:t>confidence intervals overlap significantly</a:t>
            </a:r>
            <a:r>
              <a:rPr lang="en-US" altLang="en-US" dirty="0">
                <a:latin typeface="Arial" panose="020B0604020202020204" pitchFamily="34" charset="0"/>
              </a:rPr>
              <a:t>, suggesting no clear difference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Standard errors are relatively small, indicating moderate precision of estimates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Differences observed are within expected sampling variability </a:t>
            </a:r>
          </a:p>
        </p:txBody>
      </p:sp>
    </p:spTree>
    <p:extLst>
      <p:ext uri="{BB962C8B-B14F-4D97-AF65-F5344CB8AC3E}">
        <p14:creationId xmlns:p14="http://schemas.microsoft.com/office/powerpoint/2010/main" val="1161846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3284-85F3-B70A-F526-73CF3491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observation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D322D-079A-AAC7-E0DF-F30CC8CBA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Inverse sampling adapts sampling effort to system performance </a:t>
            </a:r>
          </a:p>
          <a:p>
            <a:r>
              <a:rPr lang="en-US" dirty="0"/>
              <a:t>Better systems require more trials to observe errors </a:t>
            </a:r>
          </a:p>
          <a:p>
            <a:r>
              <a:rPr lang="en-US" dirty="0"/>
              <a:t>Method avoids unnecessary data collection </a:t>
            </a:r>
          </a:p>
          <a:p>
            <a:r>
              <a:rPr lang="en-US" dirty="0"/>
              <a:t>Demonstrates practical use of sampling theory in AI evaluation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649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DF77-A435-A364-2642-E76CF3509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05EF61-A363-487D-E20B-0C55BA65A2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794640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rates are moderate, not extremely rare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Assumes independence of responses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a single randomized sequence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may vary across different samples </a:t>
            </a:r>
          </a:p>
        </p:txBody>
      </p:sp>
    </p:spTree>
    <p:extLst>
      <p:ext uri="{BB962C8B-B14F-4D97-AF65-F5344CB8AC3E}">
        <p14:creationId xmlns:p14="http://schemas.microsoft.com/office/powerpoint/2010/main" val="2410730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AC6E-7BDE-E2C3-3F79-3BDA881E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AB7F6F-37CF-2032-78D2-6FC064FE3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652" y="2053229"/>
            <a:ext cx="105031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Inverse sampling successfully applied to chatbot evaluation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efficient estimation of error probabilities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chatbots show similar performance statistically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can be extended to larger AI systems </a:t>
            </a:r>
          </a:p>
        </p:txBody>
      </p:sp>
    </p:spTree>
    <p:extLst>
      <p:ext uri="{BB962C8B-B14F-4D97-AF65-F5344CB8AC3E}">
        <p14:creationId xmlns:p14="http://schemas.microsoft.com/office/powerpoint/2010/main" val="1596851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9142-A588-3352-2ED7-7027EE3A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7503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109</TotalTime>
  <Words>666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Wingdings</vt:lpstr>
      <vt:lpstr>Retrospect</vt:lpstr>
      <vt:lpstr>Evaluation of AI Chatbots Using Inverse Sampling Theory</vt:lpstr>
      <vt:lpstr>Introduction</vt:lpstr>
      <vt:lpstr>Problem Statement</vt:lpstr>
      <vt:lpstr>Objective of Study</vt:lpstr>
      <vt:lpstr>Dataset collection</vt:lpstr>
      <vt:lpstr>Error Definition</vt:lpstr>
      <vt:lpstr>Inverse Sampling</vt:lpstr>
      <vt:lpstr>Methodology</vt:lpstr>
      <vt:lpstr>PowerPoint Presentation</vt:lpstr>
      <vt:lpstr>Statistical Model</vt:lpstr>
      <vt:lpstr>PowerPoint Presentation</vt:lpstr>
      <vt:lpstr>Variance and Confidence Interval</vt:lpstr>
      <vt:lpstr>result</vt:lpstr>
      <vt:lpstr>Our observation </vt:lpstr>
      <vt:lpstr>Limitations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Adinath Nare</dc:creator>
  <cp:lastModifiedBy>Adinath Nare</cp:lastModifiedBy>
  <cp:revision>4</cp:revision>
  <dcterms:created xsi:type="dcterms:W3CDTF">2026-04-17T07:09:24Z</dcterms:created>
  <dcterms:modified xsi:type="dcterms:W3CDTF">2026-04-30T12:49:56Z</dcterms:modified>
</cp:coreProperties>
</file>